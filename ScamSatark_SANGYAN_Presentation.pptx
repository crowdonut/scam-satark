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1148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SANGYAN 2026 • SEBI | NSDL | IIT (BHU) VARANASI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1F5F9"/>
                </a:solidFill>
              </a:defRPr>
            </a:pPr>
            <a:r>
              <a:t>ScamSatark (स्कैम सतर्क)</a:t>
            </a:r>
          </a:p>
          <a:p>
            <a:pPr>
              <a:defRPr sz="2200">
                <a:solidFill>
                  <a:srgbClr val="F59E0B"/>
                </a:solidFill>
              </a:defRPr>
            </a:pPr>
            <a:r>
              <a:t>AI-Powered National Investor Resilience &amp; Digital Fraud Interception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A zero-login, public-good defense platform protecting first-time &amp; Tier-2/3 retail investors from deceptive financial vectors, fake SEBI claims, and pump-and-dump channels in 22 Official Indian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2560320" cy="100584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22 Languages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Full 8th Schedule Native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5303520"/>
            <a:ext cx="2560320" cy="100584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&lt; 5ms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Deterministic Heuristics + Gemini Multimodal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5303520"/>
            <a:ext cx="2560320" cy="100584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Public Good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Strict Non-Commercial Guardrail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5303520"/>
            <a:ext cx="2560320" cy="100584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1-Click Redressal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 SCORES &amp; Cybercrime 1930 Dossier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The Challenge: Rapid Market Access Outrunning Financial Confidence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3291840"/>
          </a:xfrm>
          <a:prstGeom prst="roundRect">
            <a:avLst/>
          </a:prstGeom>
          <a:solidFill>
            <a:srgbClr val="131C2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📈 16+ Crore Demat Surge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Over 70% incremental retail account growth originates from non-metro, Tier-2, and Tier-3 cities. Emerging investors lack institutional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329184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⚠️ 9 Out of 10 F&amp;O Loss Rate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SEBI's landmark study revealed 90% of individual derivative traders lose money. Market democratization without resilience leads to catastrophic capital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329184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🎭 Digital Fraud Vector Epidemic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Scammers weaponize fake SEBI IDs, Telegram pump-and-dump tip groups, cloned broker portals, remote APKs (AnyDesk), and synthetic urgency.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🎯 Core SANGYAN Mandate:</a:t>
            </a:r>
          </a:p>
          <a:p>
            <a:pPr>
              <a:defRPr sz="1300">
                <a:solidFill>
                  <a:srgbClr val="F1F5F9"/>
                </a:solidFill>
              </a:defRPr>
            </a:pPr>
            <a:r>
              <a:t>The objective is NOT to give investment tips. It is to build resilient investors who can spot manipulation, avoid loss, understand financial risks, and decide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ScamSatark: A 360° Investor Protection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🔍 Real-Time Vector Verifier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Paste WhatsApp/Telegram tip forwards or links. Immediate sub-5ms heuristic triage across 15+ known fraud patterns.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📷 Multimodal Screenshot OCR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Upload screenshot of chats, fake SEBI certificates, or cloned portals. Gemini AI extracts text, logos, and hidden traps.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🗣️ Dual-Engine Voice In &amp; Out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Speak in your native tongue via Web Speech / Gemini audio. Hear instant audio verdicts in authentic regional pronunciation.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🧠 Cognitive Manipulation Deconstruction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Explains the psychological bait (Fake Urgency, Greed, Impersonation) using 8th-grade everyday analogies.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02336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📋 1-Click SCORES Redressal Dossier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Automatically generates a structured incident report ready to file on SEBI SCORES 2.0 or National Cybercrime Helpline 1930.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023360"/>
            <a:ext cx="347472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🌐 22 Official Indian Languages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Pre-bundled offline dictionary covering all 22 8th Schedule languages with instant zero-latency language switching.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Direct SANGYAN Track Alignment &amp; Evaluation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Track A: Digital Fraud &amp; Scam Resilience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[PRIMARY FOCUS]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Intercepts deceptive vectors before money changes hands.</a:t>
            </a:r>
            <a:br/>
            <a:r>
              <a:t>• Scans fake SEBI numbers, pump-and-dump groups, and remote APKs (AnyDesk).</a:t>
            </a:r>
            <a:br/>
            <a:r>
              <a:t>• Tip-group risk profiler with calibrated risk scores.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Track B: Grievance &amp; SCORES Integration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[ACTIONABLE REDRESSAL]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Formats 1-Click structured incident dossiers.</a:t>
            </a:r>
            <a:br/>
            <a:r>
              <a:t>• Seamless escalation pathways to SEBI SCORES 2.0 &amp; Cybercrime 1930.</a:t>
            </a:r>
            <a:br/>
            <a:r>
              <a:t>• Guides first-time investors through evidence collection.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Track C &amp; E: Bharat Literacy &amp; Content Literacy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[EDUCATION IN BHARAT]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Voice-first explainer in 22 regional languages.</a:t>
            </a:r>
            <a:br/>
            <a:r>
              <a:t>• Replaces jargon with plain analogies.</a:t>
            </a:r>
            <a:br/>
            <a:r>
              <a:t>• Deconstructs social proof &amp; greed baiting tactics.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High-Resilience Hybrid Technical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Layer 1: Deterministic Engine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Client-Side Regex &amp; Rule Heuristics</a:t>
            </a:r>
            <a:br/>
            <a:r>
              <a:t>• 15+ calibrated SEBI fraud patterns</a:t>
            </a:r>
            <a:br/>
            <a:r>
              <a:t>• Sub-5ms instant triage</a:t>
            </a:r>
            <a:br/>
            <a:r>
              <a:t>• 100% offline functionality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B82F6"/>
                </a:solidFill>
              </a:defRPr>
            </a:pPr>
            <a:r>
              <a:t>Layer 2: Multimodal Gemini AI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Gemini 3.5 Flash-Lite + Fallbacks</a:t>
            </a:r>
            <a:br/>
            <a:r>
              <a:t>• High-throughput multimodal OCR</a:t>
            </a:r>
            <a:br/>
            <a:r>
              <a:t>• Cognitive manipulation classification</a:t>
            </a:r>
            <a:br/>
            <a:r>
              <a:t>• Multi-model fallback cascade (Zero 429 errors)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Layer 3: Bharat Voice &amp; i18n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22 Languages + Web Speech API</a:t>
            </a:r>
            <a:br/>
            <a:r>
              <a:t>• Continuous client-side recognition</a:t>
            </a:r>
            <a:br/>
            <a:r>
              <a:t>• Regional SpeechSynthesis with BCP-47 tags</a:t>
            </a:r>
            <a:br/>
            <a:r>
              <a:t>• Gemini audio transcription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Layer 4: Redressal Infrastructure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Government &amp; Regulatory Integration</a:t>
            </a:r>
            <a:br/>
            <a:r>
              <a:t>• Direct SEBI SCORES 2.0 template generator</a:t>
            </a:r>
            <a:br/>
            <a:r>
              <a:t>• National Cybercrime 1930 hotlines</a:t>
            </a:r>
            <a:br/>
            <a:r>
              <a:t>• Direct SEBI Registry Intermediary verification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Tier-2/3 Usability: Bharat-First Inclusion in 22 Languages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92608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🌍 Comprehensive 8th Schedule Language Matrix (Zero-Latency Pre-Bundled Dictionaries):</a:t>
            </a:r>
          </a:p>
          <a:p>
            <a:br/>
            <a:pPr>
              <a:defRPr sz="1400">
                <a:solidFill>
                  <a:srgbClr val="F1F5F9"/>
                </a:solidFill>
              </a:defRPr>
            </a:pPr>
            <a:r>
              <a:t>• Hindi (हिन्दी)  • Marathi (मराठी)  • Bengali (বাংলা)  • Telugu (తెలుగు)  • Tamil (தமிழ்)</a:t>
            </a:r>
            <a:br/>
            <a:r>
              <a:t>• Gujarati (ગુજરાતી)  • Kannada (ಕನ್ನಡ)  • Malayalam (മലയാളം)  • Punjabi (ਪੰਜਾਬੀ)  • Odia (ଓଡ଼ିଆ)</a:t>
            </a:r>
            <a:br/>
            <a:r>
              <a:t>• Assamese (অসমীয়া)  • Urdu (اردو)  • Sanskrit (संस्कृतम्)  • Maithili (मैथिली)  • Santali (ᱥᱟᱱᱛᱟᱲᱤ)</a:t>
            </a:r>
            <a:br/>
            <a:r>
              <a:t>• Kashmiri (کٲشُر)  • Nepali (नेपाली)  • Konkani (कोंकणी)  • Sindhi (سنڌي)  • Dogri (डोगरी)</a:t>
            </a:r>
            <a:br/>
            <a:r>
              <a:t>• Manipuri (মৈতৈলোন্)  • Bodo (बड़ो)  • English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3474720" cy="146304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0ms Instant Switch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Language changes dynamically without network roundtrips.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4846320"/>
            <a:ext cx="3474720" cy="146304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Voice-In &amp; Voice-Out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Illiterate and senior citizens can speak and listen to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4846320"/>
            <a:ext cx="3474720" cy="146304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Ultra Low-Bandwidth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Lightweight single-page payload (&lt;50KB compressed). Runs on 2G/3G.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Strict Guardrail Compliance: A Pure Public-Good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🚫 Zero Commercial / Speculative Outcome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Strictly NO stock tips, buy/sell/hold calls, price predictions, or broker promotions. Programmatic guardrail regex blocks any generated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🚫 Zero Monetization Funnels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No broking commissions, margin nudges, paid subscriptions, or sponsor upsells. Operates 100% as public-benefit civic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🛡️ Privacy by Design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No mandatory login. No harvesting of private SMS, OTPs, contacts, or financial accounts. Client-side evaluation ensures confidential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⚖️ Transparent Uncertainty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Never provides false reassurance or claims an unverified tip is '100% safe'. Clearly communicates calibrated risk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Scalability, Public Digital Infrastructure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Phase 1: Present Build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Real-time scam verifier</a:t>
            </a:r>
            <a:br/>
            <a:r>
              <a:t>• 22 regional languages</a:t>
            </a:r>
            <a:br/>
            <a:r>
              <a:t>• Multimodal OCR &amp; Voice</a:t>
            </a:r>
            <a:br/>
            <a:r>
              <a:t>• SCORES Dossier generator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B82F6"/>
                </a:solidFill>
              </a:defRPr>
            </a:pPr>
            <a:r>
              <a:t>Phase 2: SEBI &amp; DPI Integration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Direct API link with SEBI Intermediary Registry</a:t>
            </a:r>
            <a:br/>
            <a:r>
              <a:t>• Bhashini AI voice translation pipeline</a:t>
            </a:r>
            <a:br/>
            <a:r>
              <a:t>• DigiLocker &amp; Account Aggregator tie-in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645920"/>
            <a:ext cx="3474720" cy="4572000"/>
          </a:xfrm>
          <a:prstGeom prst="roundRect">
            <a:avLst/>
          </a:prstGeom>
          <a:solidFill>
            <a:srgbClr val="131C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Phase 3: National Public Utility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WhatsApp/Telegram automated helpline bot</a:t>
            </a:r>
            <a:br/>
            <a:r>
              <a:t>• Telco SMS firewall integration</a:t>
            </a:r>
            <a:br/>
            <a:r>
              <a:t>• Village Gram Panchayat &amp; SHG awareness circles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SANGYAN 2026: SEBI &amp; NSDL INVESTOR RESILIENCE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1F5F9"/>
                </a:solidFill>
              </a:defRPr>
            </a:pPr>
            <a:r>
              <a:t>Summary: Protecting India's Next 100 Million Investors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31C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🚀 Why ScamSatark Delivers on SANGYAN's Vision:</a:t>
            </a:r>
          </a:p>
          <a:p>
            <a:br/>
            <a:pPr>
              <a:defRPr sz="1500">
                <a:solidFill>
                  <a:srgbClr val="F1F5F9"/>
                </a:solidFill>
              </a:defRPr>
            </a:pPr>
            <a:r>
              <a:t>1. High Measurable Impact (30%): Directly stops money from changing hands in predatory scams.</a:t>
            </a:r>
            <a:br/>
            <a:r>
              <a:t>2. Bharat-First Inclusion (25%): 22 Indian languages, voice-first accessibility, low-bandwidth ready.</a:t>
            </a:r>
            <a:br/>
            <a:r>
              <a:t>3. 100% Guardrail Compliant (15%): No commercial bias, zero stock recommendations, privacy by design.</a:t>
            </a:r>
            <a:br/>
            <a:r>
              <a:t>4. Superior Tech Execution (15%): Multi-model fallback cascade, sub-5ms heuristic engine, multimodal vision.</a:t>
            </a:r>
            <a:br/>
            <a:r>
              <a:t>5. Feasibility &amp; Scalability (15%): Ready for immediate deployment across SEBI, NSDL &amp; Cybercrime portals.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